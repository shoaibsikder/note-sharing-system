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3"/>
    <p:sldId id="274" r:id="rId4"/>
    <p:sldId id="275" r:id="rId5"/>
    <p:sldId id="257" r:id="rId6"/>
    <p:sldId id="272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635" y="5014278"/>
            <a:ext cx="9144000" cy="1655762"/>
          </a:xfrm>
        </p:spPr>
        <p:txBody>
          <a:bodyPr/>
          <a:lstStyle/>
          <a:p>
            <a:r>
              <a:rPr lang="en-MY"/>
              <a:t>imranmahmud@daffodilvarsity.edu.bd</a:t>
            </a:r>
            <a:endParaRPr lang="en-MY"/>
          </a:p>
        </p:txBody>
      </p:sp>
      <p:sp>
        <p:nvSpPr>
          <p:cNvPr id="5" name="Rectangles 4"/>
          <p:cNvSpPr/>
          <p:nvPr/>
        </p:nvSpPr>
        <p:spPr>
          <a:xfrm>
            <a:off x="9622790" y="12065"/>
            <a:ext cx="2632710" cy="68338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" name="Picture 3" descr="50839955_10161548606475323_8412954520333582336_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2790" y="43815"/>
            <a:ext cx="2632710" cy="263271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708515" y="2863850"/>
            <a:ext cx="24263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Dr. Imran Mahmud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Ass</a:t>
            </a:r>
            <a:r>
              <a:rPr lang="en-MY" altLang="en-US">
                <a:solidFill>
                  <a:schemeClr val="bg1"/>
                </a:solidFill>
              </a:rPr>
              <a:t>ociate</a:t>
            </a:r>
            <a:r>
              <a:rPr lang="en-US">
                <a:solidFill>
                  <a:schemeClr val="bg1"/>
                </a:solidFill>
              </a:rPr>
              <a:t> Professor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0" y="6004560"/>
            <a:ext cx="9653270" cy="8356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2400" dirty="0">
                <a:sym typeface="+mn-ea"/>
              </a:rPr>
              <a:t>Diagrams 101</a:t>
            </a:r>
            <a:endParaRPr lang="en-MY" altLang="en-US" sz="2400"/>
          </a:p>
        </p:txBody>
      </p:sp>
      <p:pic>
        <p:nvPicPr>
          <p:cNvPr id="9" name="Picture 8" descr="downlo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" y="43815"/>
            <a:ext cx="9461500" cy="3787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FIGURE 4.1 Data Mining Is a Blend of Multiple Disciplines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45690" y="444500"/>
            <a:ext cx="7030720" cy="60337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6" name="Content Placeholder 5"/>
          <p:cNvGraphicFramePr/>
          <p:nvPr>
            <p:ph idx="1"/>
          </p:nvPr>
        </p:nvGraphicFramePr>
        <p:xfrm>
          <a:off x="2074545" y="365125"/>
          <a:ext cx="7840980" cy="521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6362700" imgH="4349750" progId="Paint.Picture">
                  <p:embed/>
                </p:oleObj>
              </mc:Choice>
              <mc:Fallback>
                <p:oleObj name="" r:id="rId1" imgW="6362700" imgH="434975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4545" y="365125"/>
                        <a:ext cx="7840980" cy="5212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Bar Chart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bar chart is a chart that represents categorized data which is presented using rectangular bars whose lengths or heights are proportional to the values they are representing.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1934210"/>
          <a:ext cx="5644515" cy="374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807200" imgH="2457450" progId="Paint.Picture">
                  <p:embed/>
                </p:oleObj>
              </mc:Choice>
              <mc:Fallback>
                <p:oleObj name="" r:id="rId1" imgW="6807200" imgH="24574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1934210"/>
                        <a:ext cx="5644515" cy="374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Column chart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column chart is a data visualization where each category is represented by a rectangle, with the height of the rectangle being proportional to the values being plotted. Column charts are also known as vertical bar charts.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303645" y="1899920"/>
          <a:ext cx="5050155" cy="411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914900" imgH="3530600" progId="Paint.Picture">
                  <p:embed/>
                </p:oleObj>
              </mc:Choice>
              <mc:Fallback>
                <p:oleObj name="" r:id="rId1" imgW="4914900" imgH="353060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03645" y="1899920"/>
                        <a:ext cx="5050155" cy="4115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Pie Chart/ Donut chart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pie chart is a graphical representation technique that displays data in a circular-shaped graph. It is a composite static chart that works best with few variables.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920230" y="1824990"/>
          <a:ext cx="4235450" cy="3926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3683000" imgH="3498850" progId="Paint.Picture">
                  <p:embed/>
                </p:oleObj>
              </mc:Choice>
              <mc:Fallback>
                <p:oleObj name="" r:id="rId1" imgW="3683000" imgH="34988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20230" y="1824990"/>
                        <a:ext cx="4235450" cy="3926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Line Chart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line chart provides the clearest graphical representation of time-dependent variables. It is also the preferred mode of representing trends or variables over a period of time.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1983105"/>
          <a:ext cx="5181600" cy="355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867400" imgH="3473450" progId="Paint.Picture">
                  <p:embed/>
                </p:oleObj>
              </mc:Choice>
              <mc:Fallback>
                <p:oleObj name="" r:id="rId1" imgW="5867400" imgH="34734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1983105"/>
                        <a:ext cx="5181600" cy="3552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Area Chart**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An area chart is a graph that combines a line chart and a bar chart to show changes in quantities over time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1906270"/>
          <a:ext cx="5181600" cy="387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372100" imgH="3695700" progId="Paint.Picture">
                  <p:embed/>
                </p:oleObj>
              </mc:Choice>
              <mc:Fallback>
                <p:oleObj name="" r:id="rId1" imgW="5372100" imgH="369570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1906270"/>
                        <a:ext cx="5181600" cy="3877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Waterfall chart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waterfall chart is a data visualization technique that shows how an initial value can be affected by the cumulative effect of sequential positive and negative values.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1690370"/>
          <a:ext cx="5181600" cy="413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575300" imgH="3930650" progId="Paint.Picture">
                  <p:embed/>
                </p:oleObj>
              </mc:Choice>
              <mc:Fallback>
                <p:oleObj name="" r:id="rId1" imgW="5575300" imgH="39306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1690370"/>
                        <a:ext cx="5181600" cy="413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Funnel Chart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funnel chart is a graphical representation used to visualize how data moves through a process.. Funnel charts are widely used to represent sales funnels, recruitment, and order fulfilment processes.sales process by contacting prospective customers.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815455" y="2124710"/>
          <a:ext cx="4537710" cy="2858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3892550" imgH="1962150" progId="Paint.Picture">
                  <p:embed/>
                </p:oleObj>
              </mc:Choice>
              <mc:Fallback>
                <p:oleObj name="" r:id="rId1" imgW="3892550" imgH="19621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15455" y="2124710"/>
                        <a:ext cx="4537710" cy="2858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Scatter chart**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scatter chart, also called a scatter plot, is a chart that shows the relationship between two variables. They are an incredibly powerful chart type, allowing viewers to immediately understand a relationship or trend, which would be impossible to see in almost any other form.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2055495"/>
          <a:ext cx="5181600" cy="357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7061200" imgH="4451350" progId="Paint.Picture">
                  <p:embed/>
                </p:oleObj>
              </mc:Choice>
              <mc:Fallback>
                <p:oleObj name="" r:id="rId1" imgW="7061200" imgH="44513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2055495"/>
                        <a:ext cx="5181600" cy="3578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Tree Map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Treemapping is a data visualization technique that displays hierarchical data using rectangles of decreasing sizes, often called nesting, to create treemap charts</a:t>
            </a:r>
            <a:r>
              <a:rPr lang="en-MY" altLang="en-US"/>
              <a:t>. e.g. segment</a:t>
            </a:r>
            <a:endParaRPr lang="en-MY" alt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1690370"/>
          <a:ext cx="5181600" cy="3922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064250" imgH="3771900" progId="Paint.Picture">
                  <p:embed/>
                </p:oleObj>
              </mc:Choice>
              <mc:Fallback>
                <p:oleObj name="" r:id="rId1" imgW="6064250" imgH="377190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1690370"/>
                        <a:ext cx="5181600" cy="3922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Map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map chart allows organizations to position data or visualize spatial relationships using geographical context.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2492734"/>
          <a:ext cx="5181600" cy="3017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899150" imgH="3435350" progId="Paint.Picture">
                  <p:embed/>
                </p:oleObj>
              </mc:Choice>
              <mc:Fallback>
                <p:oleObj name="" r:id="rId1" imgW="5899150" imgH="34353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2492734"/>
                        <a:ext cx="5181600" cy="3017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Filled Map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filled, or choropleth, map uses shading or tinting or patterns to display how a value differs in proportion across a geography or region.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2007235"/>
          <a:ext cx="5181600" cy="3245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403850" imgH="2609850" progId="Paint.Picture">
                  <p:embed/>
                </p:oleObj>
              </mc:Choice>
              <mc:Fallback>
                <p:oleObj name="" r:id="rId1" imgW="5403850" imgH="26098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2007235"/>
                        <a:ext cx="5181600" cy="3245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Gauge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A gauge chart looks like a speedometer and shows one measure of performance against a goal. It uses elements of a pie or donut chart and a pointer to indicate where a value currently stands. Often called dial charts, 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172200" y="2641039"/>
          <a:ext cx="5181600" cy="2720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829300" imgH="3060700" progId="Paint.Picture">
                  <p:embed/>
                </p:oleObj>
              </mc:Choice>
              <mc:Fallback>
                <p:oleObj name="" r:id="rId1" imgW="5829300" imgH="306070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72200" y="2641039"/>
                        <a:ext cx="5181600" cy="2720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Table/ Matrix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The table only displays the data in two dimensions whereas Matrix visualizations allow options to display data as a table, let the user specify rows and columns, and layer the data</a:t>
            </a:r>
            <a:r>
              <a:rPr lang="en-MY" altLang="en-US"/>
              <a:t>.</a:t>
            </a:r>
            <a:endParaRPr lang="en-MY" alt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6674485" y="2106930"/>
          <a:ext cx="5147310" cy="407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3549650" imgH="2019300" progId="Paint.Picture">
                  <p:embed/>
                </p:oleObj>
              </mc:Choice>
              <mc:Fallback>
                <p:oleObj name="" r:id="rId1" imgW="3549650" imgH="201930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74485" y="2106930"/>
                        <a:ext cx="5147310" cy="407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Key Influencer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just"/>
            <a:r>
              <a:rPr lang="en-US"/>
              <a:t>The key influencers visual helps you understand the factors that drive a metric you're interested in. It analyzes your data, ranks the factors that matter, and displays them as key influencers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2"/>
          </p:nvPr>
        </p:nvGraphicFramePr>
        <p:xfrm>
          <a:off x="7473950" y="1535430"/>
          <a:ext cx="3492500" cy="464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2787650" imgH="4705350" progId="Paint.Picture">
                  <p:embed/>
                </p:oleObj>
              </mc:Choice>
              <mc:Fallback>
                <p:oleObj name="" r:id="rId1" imgW="2787650" imgH="470535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73950" y="1535430"/>
                        <a:ext cx="3492500" cy="464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De-Composition Tree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ArcGIS Map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2831</Words>
  <Application>WPS Presentation</Application>
  <PresentationFormat>Widescreen</PresentationFormat>
  <Paragraphs>69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15</vt:i4>
      </vt:variant>
      <vt:variant>
        <vt:lpstr>幻灯片标题</vt:lpstr>
      </vt:variant>
      <vt:variant>
        <vt:i4>19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Bar Chart</vt:lpstr>
      <vt:lpstr>Column chart</vt:lpstr>
      <vt:lpstr>Pie Chart/ Donut chart</vt:lpstr>
      <vt:lpstr>Line Chart</vt:lpstr>
      <vt:lpstr>Area Chart**</vt:lpstr>
      <vt:lpstr>Waterfall chart</vt:lpstr>
      <vt:lpstr>Funnel Chart</vt:lpstr>
      <vt:lpstr>Scatter chart**</vt:lpstr>
      <vt:lpstr>Tree Map</vt:lpstr>
      <vt:lpstr>Map</vt:lpstr>
      <vt:lpstr>Filled Map</vt:lpstr>
      <vt:lpstr>Gauge</vt:lpstr>
      <vt:lpstr>Table/ Matrix</vt:lpstr>
      <vt:lpstr>Key Influencer</vt:lpstr>
      <vt:lpstr>De-Composition Tree</vt:lpstr>
      <vt:lpstr>ArcGIS Map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Diagrams 101</dc:title>
  <dc:creator>User-PC</dc:creator>
  <cp:lastModifiedBy>User-PC</cp:lastModifiedBy>
  <cp:revision>32</cp:revision>
  <dcterms:created xsi:type="dcterms:W3CDTF">2023-01-18T16:52:00Z</dcterms:created>
  <dcterms:modified xsi:type="dcterms:W3CDTF">2023-01-21T07:01:30Z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2B2FB85A529D415B9226550B6F99D66E</vt:lpwstr>
  </property>
  <property fmtid="{D5CDD505-2E9C-101B-9397-08002B2CF9AE}" pid="3" name="KSOProductBuildVer">
    <vt:lpwstr>1033-11.2.0.11440</vt:lpwstr>
  </property>
</Properties>
</file>