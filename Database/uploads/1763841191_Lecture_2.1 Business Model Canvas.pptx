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2" r:id="rId5"/>
    <p:sldId id="264" r:id="rId6"/>
    <p:sldId id="265" r:id="rId7"/>
    <p:sldId id="263" r:id="rId8"/>
    <p:sldId id="267" r:id="rId9"/>
    <p:sldId id="261" r:id="rId10"/>
    <p:sldId id="259" r:id="rId11"/>
    <p:sldId id="260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495" y="3591243"/>
            <a:ext cx="9144000" cy="1655762"/>
          </a:xfrm>
        </p:spPr>
        <p:txBody>
          <a:bodyPr/>
          <a:lstStyle/>
          <a:p>
            <a:r>
              <a:rPr lang="en-US"/>
              <a:t>imranmahmud@daffodilvarsity.edu.bd</a:t>
            </a:r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9622790" y="12065"/>
            <a:ext cx="2632710" cy="68338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Picture 3" descr="50839955_10161548606475323_8412954520333582336_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2790" y="43815"/>
            <a:ext cx="2632710" cy="2632710"/>
          </a:xfrm>
          <a:prstGeom prst="rect">
            <a:avLst/>
          </a:prstGeom>
        </p:spPr>
      </p:pic>
      <p:pic>
        <p:nvPicPr>
          <p:cNvPr id="6" name="Picture 5" descr="im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40" y="677545"/>
            <a:ext cx="6450965" cy="26136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708515" y="2863850"/>
            <a:ext cx="24263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Dr. Imran Mahmud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Head &amp; 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Assistant Professor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Department of Information Technology &amp; Management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itle 7"/>
          <p:cNvSpPr/>
          <p:nvPr>
            <p:ph type="ctrTitle"/>
          </p:nvPr>
        </p:nvSpPr>
        <p:spPr/>
        <p:txBody>
          <a:bodyPr/>
          <a:p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-61595" y="23495"/>
          <a:ext cx="12273280" cy="681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908550" imgH="1835150" progId="Paint.Picture">
                  <p:embed/>
                </p:oleObj>
              </mc:Choice>
              <mc:Fallback>
                <p:oleObj name="" r:id="rId1" imgW="4908550" imgH="18351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61595" y="23495"/>
                        <a:ext cx="12273280" cy="681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9327515" y="2517140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2</a:t>
            </a:r>
            <a:endParaRPr lang="en-US" sz="4000"/>
          </a:p>
        </p:txBody>
      </p:sp>
      <p:sp>
        <p:nvSpPr>
          <p:cNvPr id="8" name="Oval 7"/>
          <p:cNvSpPr/>
          <p:nvPr/>
        </p:nvSpPr>
        <p:spPr>
          <a:xfrm>
            <a:off x="5707380" y="283400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1</a:t>
            </a:r>
            <a:endParaRPr lang="en-US" sz="4000"/>
          </a:p>
        </p:txBody>
      </p:sp>
      <p:sp>
        <p:nvSpPr>
          <p:cNvPr id="9" name="Oval 8"/>
          <p:cNvSpPr/>
          <p:nvPr/>
        </p:nvSpPr>
        <p:spPr>
          <a:xfrm>
            <a:off x="7418705" y="320357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3</a:t>
            </a:r>
            <a:endParaRPr lang="en-US" sz="4000"/>
          </a:p>
        </p:txBody>
      </p:sp>
      <p:sp>
        <p:nvSpPr>
          <p:cNvPr id="10" name="Oval 9"/>
          <p:cNvSpPr/>
          <p:nvPr/>
        </p:nvSpPr>
        <p:spPr>
          <a:xfrm>
            <a:off x="8093710" y="85153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4</a:t>
            </a:r>
            <a:endParaRPr lang="en-US" sz="4000"/>
          </a:p>
        </p:txBody>
      </p:sp>
      <p:sp>
        <p:nvSpPr>
          <p:cNvPr id="11" name="Oval 10"/>
          <p:cNvSpPr/>
          <p:nvPr/>
        </p:nvSpPr>
        <p:spPr>
          <a:xfrm>
            <a:off x="8620125" y="488505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5</a:t>
            </a:r>
            <a:endParaRPr lang="en-US" sz="4000"/>
          </a:p>
        </p:txBody>
      </p:sp>
      <p:sp>
        <p:nvSpPr>
          <p:cNvPr id="12" name="Oval 11"/>
          <p:cNvSpPr/>
          <p:nvPr/>
        </p:nvSpPr>
        <p:spPr>
          <a:xfrm>
            <a:off x="3848100" y="3356610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6</a:t>
            </a:r>
            <a:endParaRPr lang="en-US" sz="4000"/>
          </a:p>
        </p:txBody>
      </p:sp>
      <p:sp>
        <p:nvSpPr>
          <p:cNvPr id="13" name="Oval 12"/>
          <p:cNvSpPr/>
          <p:nvPr/>
        </p:nvSpPr>
        <p:spPr>
          <a:xfrm>
            <a:off x="2162810" y="2517140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7</a:t>
            </a:r>
            <a:endParaRPr lang="en-US" sz="4000"/>
          </a:p>
        </p:txBody>
      </p:sp>
      <p:sp>
        <p:nvSpPr>
          <p:cNvPr id="14" name="Oval 13"/>
          <p:cNvSpPr/>
          <p:nvPr/>
        </p:nvSpPr>
        <p:spPr>
          <a:xfrm>
            <a:off x="4556125" y="85153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8</a:t>
            </a:r>
            <a:endParaRPr lang="en-US" sz="4000"/>
          </a:p>
        </p:txBody>
      </p:sp>
      <p:sp>
        <p:nvSpPr>
          <p:cNvPr id="15" name="Oval 14"/>
          <p:cNvSpPr/>
          <p:nvPr/>
        </p:nvSpPr>
        <p:spPr>
          <a:xfrm>
            <a:off x="3181350" y="4803775"/>
            <a:ext cx="929005" cy="839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/>
              <a:t>9</a:t>
            </a:r>
            <a:endParaRPr 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5" y="-76200"/>
            <a:ext cx="12256135" cy="6866890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6912610" y="48895"/>
            <a:ext cx="5346065" cy="1756410"/>
          </a:xfrm>
          <a:prstGeom prst="borderCallout1">
            <a:avLst>
              <a:gd name="adj1" fmla="val 18750"/>
              <a:gd name="adj2" fmla="val -8333"/>
              <a:gd name="adj3" fmla="val 193383"/>
              <a:gd name="adj4" fmla="val -1908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The collection of products and services that distinguishes from its competitors</a:t>
            </a:r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92455" y="979805"/>
            <a:ext cx="2482850" cy="5148580"/>
            <a:chOff x="933" y="1543"/>
            <a:chExt cx="3910" cy="8108"/>
          </a:xfrm>
        </p:grpSpPr>
        <p:sp>
          <p:nvSpPr>
            <p:cNvPr id="5" name="Rounded Rectangle 4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Excellent Network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Customer service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33" y="6077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Permanent Campus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Flexible Payment Scheme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Different types of waiver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55" y="95885"/>
            <a:ext cx="12119610" cy="672211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3321685" y="144145"/>
            <a:ext cx="4379595" cy="1767205"/>
          </a:xfrm>
          <a:prstGeom prst="borderCallout1">
            <a:avLst>
              <a:gd name="adj1" fmla="val 52530"/>
              <a:gd name="adj2" fmla="val 99070"/>
              <a:gd name="adj3" fmla="val 156773"/>
              <a:gd name="adj4" fmla="val 13008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3200"/>
              <a:t>Customers' Profile</a:t>
            </a:r>
            <a:endParaRPr lang="en-US" sz="3200"/>
          </a:p>
        </p:txBody>
      </p:sp>
      <p:grpSp>
        <p:nvGrpSpPr>
          <p:cNvPr id="7" name="Group 6"/>
          <p:cNvGrpSpPr/>
          <p:nvPr/>
        </p:nvGrpSpPr>
        <p:grpSpPr>
          <a:xfrm>
            <a:off x="592455" y="979805"/>
            <a:ext cx="2482850" cy="5148580"/>
            <a:chOff x="933" y="1543"/>
            <a:chExt cx="3910" cy="8108"/>
          </a:xfrm>
        </p:grpSpPr>
        <p:sp>
          <p:nvSpPr>
            <p:cNvPr id="5" name="Rounded Rectangle 4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18+ citizen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Corporate offices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33" y="6077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HSC or Diploma pass students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Professionals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605" y="-8255"/>
            <a:ext cx="12061190" cy="682244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3131820" y="144780"/>
            <a:ext cx="4379595" cy="1767205"/>
          </a:xfrm>
          <a:prstGeom prst="borderCallout1">
            <a:avLst>
              <a:gd name="adj1" fmla="val 52530"/>
              <a:gd name="adj2" fmla="val 99070"/>
              <a:gd name="adj3" fmla="val 183363"/>
              <a:gd name="adj4" fmla="val 10813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400"/>
              <a:t>Company can deliver its value proposition to its targeted customers through different channel</a:t>
            </a:r>
            <a:endParaRPr lang="en-US" sz="2400"/>
          </a:p>
        </p:txBody>
      </p:sp>
      <p:sp>
        <p:nvSpPr>
          <p:cNvPr id="5" name="Right Arrow 4"/>
          <p:cNvSpPr/>
          <p:nvPr/>
        </p:nvSpPr>
        <p:spPr>
          <a:xfrm>
            <a:off x="6263005" y="3535680"/>
            <a:ext cx="3109595" cy="46990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56210" y="721995"/>
            <a:ext cx="2482850" cy="5148580"/>
            <a:chOff x="933" y="1543"/>
            <a:chExt cx="3910" cy="8108"/>
          </a:xfrm>
        </p:grpSpPr>
        <p:sp>
          <p:nvSpPr>
            <p:cNvPr id="8" name="Rounded Rectangle 7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Network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GP center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3" y="6077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Classroom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Online platform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0" y="27940"/>
            <a:ext cx="12204700" cy="68021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3332480" y="144145"/>
            <a:ext cx="4379595" cy="1767205"/>
          </a:xfrm>
          <a:prstGeom prst="borderCallout1">
            <a:avLst>
              <a:gd name="adj1" fmla="val 52530"/>
              <a:gd name="adj2" fmla="val 99070"/>
              <a:gd name="adj3" fmla="val 151095"/>
              <a:gd name="adj4" fmla="val 10300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3200"/>
              <a:t>Various forms of customer relationships</a:t>
            </a:r>
            <a:endParaRPr lang="en-US" sz="3200"/>
          </a:p>
        </p:txBody>
      </p:sp>
      <p:grpSp>
        <p:nvGrpSpPr>
          <p:cNvPr id="7" name="Group 6"/>
          <p:cNvGrpSpPr/>
          <p:nvPr/>
        </p:nvGrpSpPr>
        <p:grpSpPr>
          <a:xfrm>
            <a:off x="156210" y="721995"/>
            <a:ext cx="2482850" cy="5148580"/>
            <a:chOff x="933" y="1543"/>
            <a:chExt cx="3910" cy="8108"/>
          </a:xfrm>
        </p:grpSpPr>
        <p:sp>
          <p:nvSpPr>
            <p:cNvPr id="8" name="Rounded Rectangle 7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Bonus offer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SMS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3" y="6077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Waiver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Scholarship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Student mentoring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65" y="24765"/>
            <a:ext cx="12118975" cy="6823710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7013575" y="227965"/>
            <a:ext cx="5346065" cy="1756410"/>
          </a:xfrm>
          <a:prstGeom prst="borderCallout1">
            <a:avLst>
              <a:gd name="adj1" fmla="val 100939"/>
              <a:gd name="adj2" fmla="val 37474"/>
              <a:gd name="adj3" fmla="val 265979"/>
              <a:gd name="adj4" fmla="val 10203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>
                <a:solidFill>
                  <a:schemeClr val="tx1"/>
                </a:solidFill>
                <a:latin typeface="+mn-ea"/>
                <a:cs typeface="+mn-ea"/>
              </a:rPr>
              <a:t>Income</a:t>
            </a:r>
            <a:endParaRPr lang="en-US" sz="3600" b="1">
              <a:solidFill>
                <a:schemeClr val="tx1"/>
              </a:solidFill>
              <a:latin typeface="+mn-ea"/>
              <a:cs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56210" y="721995"/>
            <a:ext cx="2482850" cy="5148580"/>
            <a:chOff x="933" y="1543"/>
            <a:chExt cx="3910" cy="8108"/>
          </a:xfrm>
        </p:grpSpPr>
        <p:sp>
          <p:nvSpPr>
            <p:cNvPr id="8" name="Rounded Rectangle 7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Flexiload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Internet Pack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Mobile contents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3" y="6077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Course fee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Investment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 descr="7395-01-3D-business-model-canvas-16x9-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3335" y="48895"/>
            <a:ext cx="12077700" cy="6731635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6912610" y="48895"/>
            <a:ext cx="5346065" cy="1756410"/>
          </a:xfrm>
          <a:prstGeom prst="borderCallout1">
            <a:avLst>
              <a:gd name="adj1" fmla="val 18750"/>
              <a:gd name="adj2" fmla="val -8333"/>
              <a:gd name="adj3" fmla="val 190202"/>
              <a:gd name="adj4" fmla="val -41263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</a:rPr>
              <a:t>They are considered assets to a company that are needed to sustain and support the business. These resources could be human, financial, physical and intellectual.</a:t>
            </a:r>
            <a:endParaRPr lang="en-US" sz="2000" b="1">
              <a:solidFill>
                <a:schemeClr val="tx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56210" y="721995"/>
            <a:ext cx="2482850" cy="5182235"/>
            <a:chOff x="933" y="1543"/>
            <a:chExt cx="3910" cy="8161"/>
          </a:xfrm>
        </p:grpSpPr>
        <p:sp>
          <p:nvSpPr>
            <p:cNvPr id="9" name="Rounded Rectangle 8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Technological infrastructure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Skilled HR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3" y="6129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High qualified teachers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Skilled Administrators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Strong IT infrastructure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 descr="7395-01-3D-business-model-canvas-16x9-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9525" y="62865"/>
            <a:ext cx="12253595" cy="6732270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5794375" y="365125"/>
            <a:ext cx="5346065" cy="1756410"/>
          </a:xfrm>
          <a:prstGeom prst="borderCallout1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</a:rPr>
              <a:t>Partner network or Busienss Alliance</a:t>
            </a: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9685655" y="878205"/>
            <a:ext cx="2482850" cy="5182235"/>
            <a:chOff x="933" y="1543"/>
            <a:chExt cx="3910" cy="8161"/>
          </a:xfrm>
        </p:grpSpPr>
        <p:sp>
          <p:nvSpPr>
            <p:cNvPr id="13" name="Rounded Rectangle 12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Multinational companies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Vendors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33" y="6129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Foreign Universities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Local industries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Content Placeholder 6" descr="7395-01-3D-business-model-canvas-16x9-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25" y="-31115"/>
            <a:ext cx="12176125" cy="6777990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6286500" y="432435"/>
            <a:ext cx="5346065" cy="1756410"/>
          </a:xfrm>
          <a:prstGeom prst="borderCallout1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</a:rPr>
              <a:t>The most important activities</a:t>
            </a:r>
            <a:endParaRPr lang="en-US" sz="2800" b="1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56210" y="721995"/>
            <a:ext cx="2482850" cy="5182235"/>
            <a:chOff x="933" y="1543"/>
            <a:chExt cx="3910" cy="8161"/>
          </a:xfrm>
        </p:grpSpPr>
        <p:sp>
          <p:nvSpPr>
            <p:cNvPr id="13" name="Rounded Rectangle 12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Call handle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Internet service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3" y="6129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Teaching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Research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7395-01-3D-business-model-canvas-16x9-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7780" y="24765"/>
            <a:ext cx="12226925" cy="680847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201295" y="144780"/>
            <a:ext cx="4379595" cy="1767205"/>
          </a:xfrm>
          <a:prstGeom prst="borderCallout1">
            <a:avLst>
              <a:gd name="adj1" fmla="val 52530"/>
              <a:gd name="adj2" fmla="val 99070"/>
              <a:gd name="adj3" fmla="val 247897"/>
              <a:gd name="adj4" fmla="val 10303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3600"/>
              <a:t>Expenses</a:t>
            </a:r>
            <a:endParaRPr lang="en-US" sz="3600"/>
          </a:p>
        </p:txBody>
      </p:sp>
      <p:grpSp>
        <p:nvGrpSpPr>
          <p:cNvPr id="12" name="Group 11"/>
          <p:cNvGrpSpPr/>
          <p:nvPr/>
        </p:nvGrpSpPr>
        <p:grpSpPr>
          <a:xfrm>
            <a:off x="9182735" y="520700"/>
            <a:ext cx="2482850" cy="5182235"/>
            <a:chOff x="933" y="1543"/>
            <a:chExt cx="3910" cy="8161"/>
          </a:xfrm>
        </p:grpSpPr>
        <p:sp>
          <p:nvSpPr>
            <p:cNvPr id="13" name="Rounded Rectangle 12"/>
            <p:cNvSpPr/>
            <p:nvPr/>
          </p:nvSpPr>
          <p:spPr>
            <a:xfrm>
              <a:off x="933" y="1543"/>
              <a:ext cx="3910" cy="3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GP: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Salary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Network improvement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Vendor cost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Govt. Tax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3" y="6129"/>
              <a:ext cx="3910" cy="3575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</a:rPr>
                <a:t>DIU: 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 Salary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Infrastucture development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Activities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Log in to your moodle account</a:t>
            </a:r>
            <a:endParaRPr lang="en-US"/>
          </a:p>
          <a:p>
            <a:r>
              <a:rPr lang="en-US"/>
              <a:t>Visit the course</a:t>
            </a:r>
            <a:endParaRPr lang="en-US"/>
          </a:p>
          <a:p>
            <a:r>
              <a:rPr lang="en-US"/>
              <a:t>Join the forum in the moodle for discussion</a:t>
            </a:r>
            <a:endParaRPr lang="en-US"/>
          </a:p>
          <a:p>
            <a:r>
              <a:rPr lang="en-US"/>
              <a:t>Watch the video uploaded in the moodle to gain more knowledge </a:t>
            </a:r>
            <a:endParaRPr lang="en-US"/>
          </a:p>
          <a:p>
            <a:r>
              <a:rPr lang="en-US"/>
              <a:t>Submit the assigment (Instructions are given in the moodle)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WPS Presentation</Application>
  <PresentationFormat>Widescreen</PresentationFormat>
  <Paragraphs>142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User-PC</cp:lastModifiedBy>
  <cp:revision>27</cp:revision>
  <dcterms:created xsi:type="dcterms:W3CDTF">2020-04-25T13:21:57Z</dcterms:created>
  <dcterms:modified xsi:type="dcterms:W3CDTF">2020-04-25T20:22:33Z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